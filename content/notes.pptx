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3" d="100"/>
          <a:sy n="93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7C0C-EDC1-CF15-3B96-C5BA01489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F2E62-645A-0212-6965-C8C7D9B08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56C3-0EF6-641C-4595-3FC8CFE7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E400-AD81-A16A-60A3-81EBCA21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024FF-4B1C-2B06-4C4A-BAC2BF8A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6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6BD90-3BD0-497B-DB81-9A477ADD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2007-F88A-5E16-15A8-3F3CE870B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0F859-674F-FA6A-A89A-260F8628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86852-8078-EB96-870C-77E8466FD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C7CEF-2D81-2D25-C211-7F9B7AD7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4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E7A0-5895-576F-1485-B7730C04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7E6F6-916D-4A0D-A268-2D0265125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393CD-6D4E-CDB7-7AEC-E4567299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F64EB-5A3E-5F33-A1AA-CD738495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E64F9-EEC4-DB1B-337A-E2491B68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1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8D27-7C52-2A0B-B3E2-E8EE9FE9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13C5-199B-367A-E4BC-849BB973C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9543D-B16A-73F6-B2E9-EEA54E813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FDE6D-C141-4280-843C-F0F398378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9E112-B275-158C-F5D9-41D60977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78ACF-C876-32D8-4364-4402EE2A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4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EE10-CEC4-B8B6-856A-C60D03A8C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31B28-D9B3-EC6C-DFEB-CAD2924DD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C4625-9569-CF38-6B7C-F73E077F7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56B98-7605-E601-22AF-FC775159E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306A2-2368-CA5D-6574-04A41382A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A881F-66FB-8700-C9D0-688C95DB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1B5D3-9C8D-EF0D-0A06-BA6620C9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08BDEC-FA9F-D4C4-B92A-1743D075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9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2AE2-6D57-0BA9-49E3-E4A68C91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7AA9E-7C76-C4E0-39E4-6DC1DB46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12009-FC07-95DA-AFB0-92823250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E066-5562-82C1-CE2C-045A3CF1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0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2573D-D07E-E688-BAA4-523E172E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D58D0-53FD-ABDD-0AD7-8C39BBFE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4FD9-F254-05A0-4972-80094264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2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4CA4-7977-7CE8-6209-F70B1AEC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D943F-FBB3-1DD6-9F0C-4F8C7863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9716B-968A-9030-1138-91BB4D3A2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CDC0B-C1A3-A5B0-0ACF-2618032E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A6192-21C8-EB7C-34FB-913F6EF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060E9-F530-C979-6179-23749395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77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3E70-D2C7-8ACA-898B-FF7728D6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5B1BC-CD4F-D90F-9439-7135970CF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F28C9-3CCD-938B-980F-9C7B3FCE7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CCDE8-0B66-12FA-7129-EA4F4588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E4557-AEC2-2E0A-0C26-816ADA2B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562F2-DB80-5150-64E9-CD2CF479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1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43A-D148-3978-3BE3-0ABD20D2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09F1D-37BA-A23A-73D4-F9D43BB8B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81A8D-65E8-C2C8-30C9-A73860FCB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C8139-3EED-7BA7-1C92-90CDAF6D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DD63C-6310-A86B-F997-A541B1ED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9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EA9E2-72E4-0ABF-791D-50B729F2D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BCF79-8B2C-A525-A1F3-FA8F82C0C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F47F2-D241-6926-AC33-2B0621C7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5606-B1F8-CD48-B7ED-6DDFB6D8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7F8C-E866-B171-188F-697D3E5B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17DB5-657B-2993-7814-18A21402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A43AB-8FB9-57E8-C95D-2C5A4109F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26122-0242-0AFA-AC2E-9B338E34C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0AE5D-80DD-8845-8485-9BBEA527575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BE455-A4E8-6FAE-695B-97E327E71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0DE93-2C42-467D-BE81-8B700F02C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BC3C5-F50E-E14A-BBC7-DEEF1F2E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6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A9CAEE3-1298-EB86-7AF7-BA86794291E9}"/>
              </a:ext>
            </a:extLst>
          </p:cNvPr>
          <p:cNvSpPr/>
          <p:nvPr/>
        </p:nvSpPr>
        <p:spPr>
          <a:xfrm>
            <a:off x="1205345" y="1"/>
            <a:ext cx="9864437" cy="5140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C8506-A3C3-56E0-FD7A-1BD5EF851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983955" y="1225772"/>
            <a:ext cx="7772400" cy="933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FB7BDB-2CF6-2502-AC42-C1D84643FEC0}"/>
              </a:ext>
            </a:extLst>
          </p:cNvPr>
          <p:cNvSpPr txBox="1"/>
          <p:nvPr/>
        </p:nvSpPr>
        <p:spPr>
          <a:xfrm>
            <a:off x="3318414" y="749677"/>
            <a:ext cx="31264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High dimensional representation of static, dynamic and edge features of node </a:t>
            </a:r>
            <a:r>
              <a:rPr lang="en-US" sz="1400" i="1" dirty="0" err="1">
                <a:solidFill>
                  <a:srgbClr val="0070C0"/>
                </a:solidFill>
                <a:latin typeface="Ink Free" panose="03080402000500000000" pitchFamily="66" charset="0"/>
              </a:rPr>
              <a:t>i</a:t>
            </a:r>
            <a:r>
              <a:rPr lang="en-US" sz="1400" i="1" dirty="0">
                <a:solidFill>
                  <a:srgbClr val="0070C0"/>
                </a:solidFill>
                <a:latin typeface="Ink Free" panose="03080402000500000000" pitchFamily="66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and its neighbor </a:t>
            </a:r>
            <a:r>
              <a:rPr lang="en-US" sz="1400" i="1" dirty="0">
                <a:solidFill>
                  <a:srgbClr val="0070C0"/>
                </a:solidFill>
                <a:latin typeface="Ink Free" panose="03080402000500000000" pitchFamily="66" charset="0"/>
              </a:rPr>
              <a:t>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20403-D84C-5CB9-A8F2-3DDD32915633}"/>
              </a:ext>
            </a:extLst>
          </p:cNvPr>
          <p:cNvSpPr txBox="1"/>
          <p:nvPr/>
        </p:nvSpPr>
        <p:spPr>
          <a:xfrm>
            <a:off x="6595056" y="1026511"/>
            <a:ext cx="4576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Gradient between two nodes based on dynamic features like flood depth at previous time step, precipitation etc.</a:t>
            </a:r>
            <a:endParaRPr lang="en-US" sz="1400" i="1" dirty="0">
              <a:solidFill>
                <a:srgbClr val="0070C0"/>
              </a:solidFill>
              <a:latin typeface="Ink Free" panose="03080402000500000000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24719-E887-3A8D-E7DE-F2414AD1F1D7}"/>
              </a:ext>
            </a:extLst>
          </p:cNvPr>
          <p:cNvSpPr txBox="1"/>
          <p:nvPr/>
        </p:nvSpPr>
        <p:spPr>
          <a:xfrm>
            <a:off x="1465494" y="2010956"/>
            <a:ext cx="27319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Concatenating two by element wise dot product results in edge flux</a:t>
            </a:r>
            <a:endParaRPr lang="en-US" sz="1400" i="1" dirty="0">
              <a:solidFill>
                <a:srgbClr val="0070C0"/>
              </a:solidFill>
              <a:latin typeface="Ink Free" panose="03080402000500000000" pitchFamily="66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FCD405-9D33-0E60-1D90-248108B8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894" b="6567"/>
          <a:stretch>
            <a:fillRect/>
          </a:stretch>
        </p:blipFill>
        <p:spPr>
          <a:xfrm>
            <a:off x="2023975" y="2597491"/>
            <a:ext cx="7772400" cy="8315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CADC28-0942-6287-45C9-1AA07A6294B1}"/>
              </a:ext>
            </a:extLst>
          </p:cNvPr>
          <p:cNvSpPr txBox="1"/>
          <p:nvPr/>
        </p:nvSpPr>
        <p:spPr>
          <a:xfrm>
            <a:off x="1859324" y="3429000"/>
            <a:ext cx="725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Depth at l+1 =  depth at layer l + change in depth caused by flux exchange between </a:t>
            </a:r>
            <a:r>
              <a:rPr lang="en-US" sz="1400" dirty="0" err="1">
                <a:solidFill>
                  <a:srgbClr val="0070C0"/>
                </a:solidFill>
                <a:latin typeface="Ink Free" panose="03080402000500000000" pitchFamily="66" charset="0"/>
              </a:rPr>
              <a:t>i</a:t>
            </a:r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 and j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0C154-D415-2624-64B6-4D37521DFEA7}"/>
              </a:ext>
            </a:extLst>
          </p:cNvPr>
          <p:cNvSpPr txBox="1"/>
          <p:nvPr/>
        </p:nvSpPr>
        <p:spPr>
          <a:xfrm>
            <a:off x="5257675" y="2966688"/>
            <a:ext cx="2553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Ink Free" panose="03080402000500000000" pitchFamily="66" charset="0"/>
              </a:rPr>
              <a:t>Parameter matrices</a:t>
            </a:r>
            <a:endParaRPr lang="en-US" sz="1400" b="1" i="1" dirty="0">
              <a:solidFill>
                <a:srgbClr val="0070C0"/>
              </a:solidFill>
              <a:latin typeface="Ink Free" panose="03080402000500000000" pitchFamily="66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8DCFA3-B08E-4431-BC2F-B53BFE7B3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359150"/>
            <a:ext cx="152400" cy="139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FC551-F1E9-AD5F-B377-FB12AC5F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511550"/>
            <a:ext cx="152400" cy="139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ECF29F-74E6-8799-4907-A83BA015C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663950"/>
            <a:ext cx="152400" cy="139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E4A36F4-9B4C-EEAC-72F9-EE65869C99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1502" b="82134"/>
          <a:stretch>
            <a:fillRect/>
          </a:stretch>
        </p:blipFill>
        <p:spPr>
          <a:xfrm>
            <a:off x="2329880" y="148383"/>
            <a:ext cx="1867546" cy="6012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E63DBAD-27C0-1A84-7CDA-BE734F578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955" y="3816350"/>
            <a:ext cx="76708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32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Ink Free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Tek Narayan Bhattarai</dc:creator>
  <cp:lastModifiedBy>Tek Narayan Bhattarai</cp:lastModifiedBy>
  <cp:revision>1</cp:revision>
  <dcterms:created xsi:type="dcterms:W3CDTF">2026-06-18T21:11:38Z</dcterms:created>
  <dcterms:modified xsi:type="dcterms:W3CDTF">2026-06-18T22:21:22Z</dcterms:modified>
</cp:coreProperties>
</file>